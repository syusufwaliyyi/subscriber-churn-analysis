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ha-Latn-N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6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A898AD-0FD4-C257-ED0D-17168ABDBC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ha-Latn-N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8B203B-E998-4AA2-1ABE-31C72807A4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ha-Latn-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D7C2AB-673F-932C-2E0F-AE9D1F9BA1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FC0FE-C2FE-4709-8291-F1FC570E6F2F}" type="datetimeFigureOut">
              <a:rPr lang="ha-Latn-NG" smtClean="0"/>
              <a:t>2/2/2026</a:t>
            </a:fld>
            <a:endParaRPr lang="ha-Lat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4A504C-B29F-8A52-3703-45C516893F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a-Lat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5D87AD-04A3-C698-3D08-7A6FBEF25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A1FF60-2402-4407-8300-9DD4094344E2}" type="slidenum">
              <a:rPr lang="ha-Latn-NG" smtClean="0"/>
              <a:t>‹#›</a:t>
            </a:fld>
            <a:endParaRPr lang="ha-Latn-NG"/>
          </a:p>
        </p:txBody>
      </p:sp>
    </p:spTree>
    <p:extLst>
      <p:ext uri="{BB962C8B-B14F-4D97-AF65-F5344CB8AC3E}">
        <p14:creationId xmlns:p14="http://schemas.microsoft.com/office/powerpoint/2010/main" val="41020640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A660A1-8768-C5EF-8599-528374EA9A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a-Latn-N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250298-2C13-D97C-3E22-B3D12C4EB4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a-Latn-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AB535B-D11D-8CC5-4310-B6F3DBB96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FC0FE-C2FE-4709-8291-F1FC570E6F2F}" type="datetimeFigureOut">
              <a:rPr lang="ha-Latn-NG" smtClean="0"/>
              <a:t>2/2/2026</a:t>
            </a:fld>
            <a:endParaRPr lang="ha-Lat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8602AE-DFF4-2B44-3DB7-7D32DAFFC1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a-Lat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8C78D4-90AE-6C15-0BD9-FCF828411C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A1FF60-2402-4407-8300-9DD4094344E2}" type="slidenum">
              <a:rPr lang="ha-Latn-NG" smtClean="0"/>
              <a:t>‹#›</a:t>
            </a:fld>
            <a:endParaRPr lang="ha-Latn-NG"/>
          </a:p>
        </p:txBody>
      </p:sp>
    </p:spTree>
    <p:extLst>
      <p:ext uri="{BB962C8B-B14F-4D97-AF65-F5344CB8AC3E}">
        <p14:creationId xmlns:p14="http://schemas.microsoft.com/office/powerpoint/2010/main" val="22568678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848199-1940-F686-5128-B267AD6FAB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ha-Latn-N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3AB37E-5CC0-EE01-442F-757DBEA599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BC6E5E-CF1B-4B56-76FB-7D46E755E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FC0FE-C2FE-4709-8291-F1FC570E6F2F}" type="datetimeFigureOut">
              <a:rPr lang="ha-Latn-NG" smtClean="0"/>
              <a:t>2/2/2026</a:t>
            </a:fld>
            <a:endParaRPr lang="ha-Lat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942805-7B1C-68EF-C8C4-62A10467E6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a-Lat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63C8A6-DC75-5A7F-F219-BA9BFDBA46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A1FF60-2402-4407-8300-9DD4094344E2}" type="slidenum">
              <a:rPr lang="ha-Latn-NG" smtClean="0"/>
              <a:t>‹#›</a:t>
            </a:fld>
            <a:endParaRPr lang="ha-Latn-NG"/>
          </a:p>
        </p:txBody>
      </p:sp>
    </p:spTree>
    <p:extLst>
      <p:ext uri="{BB962C8B-B14F-4D97-AF65-F5344CB8AC3E}">
        <p14:creationId xmlns:p14="http://schemas.microsoft.com/office/powerpoint/2010/main" val="42589758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4AE009-4AD9-CF1D-BFEF-AC7F664281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a-Latn-N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1A5D80-C2D8-D528-EFED-4B5981FE78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a-Latn-N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9E0C6C-86DF-7455-0189-CD0B479279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a-Latn-N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25C50A-1D54-8C07-4975-2A2DE088E3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FC0FE-C2FE-4709-8291-F1FC570E6F2F}" type="datetimeFigureOut">
              <a:rPr lang="ha-Latn-NG" smtClean="0"/>
              <a:t>2/2/2026</a:t>
            </a:fld>
            <a:endParaRPr lang="ha-Latn-N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04FB74-2841-4B65-409C-595E2A88F4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a-Latn-N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0898F3-793D-265B-7A8D-8CFB9589EA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A1FF60-2402-4407-8300-9DD4094344E2}" type="slidenum">
              <a:rPr lang="ha-Latn-NG" smtClean="0"/>
              <a:t>‹#›</a:t>
            </a:fld>
            <a:endParaRPr lang="ha-Latn-NG"/>
          </a:p>
        </p:txBody>
      </p:sp>
    </p:spTree>
    <p:extLst>
      <p:ext uri="{BB962C8B-B14F-4D97-AF65-F5344CB8AC3E}">
        <p14:creationId xmlns:p14="http://schemas.microsoft.com/office/powerpoint/2010/main" val="11052864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E789A5-B641-B2A7-111E-EA62C87C50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ha-Latn-N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25C1A2-E965-642B-DD54-D636E6D5FB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79A378-0015-134A-431C-52FC302BC4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a-Latn-N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610C1F-FDFD-F833-DE67-350B5CBCEA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4BAFE4E-694C-922A-A4D3-24C33FECA38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a-Latn-N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B38A07C-01CB-7416-2BFB-909E1B9EE1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FC0FE-C2FE-4709-8291-F1FC570E6F2F}" type="datetimeFigureOut">
              <a:rPr lang="ha-Latn-NG" smtClean="0"/>
              <a:t>2/2/2026</a:t>
            </a:fld>
            <a:endParaRPr lang="ha-Latn-N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7A8C129-DCDB-6AED-989C-4A07F8653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a-Latn-N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8C6BF3D-8B3E-0C30-B30C-682AB7E8CD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A1FF60-2402-4407-8300-9DD4094344E2}" type="slidenum">
              <a:rPr lang="ha-Latn-NG" smtClean="0"/>
              <a:t>‹#›</a:t>
            </a:fld>
            <a:endParaRPr lang="ha-Latn-NG"/>
          </a:p>
        </p:txBody>
      </p:sp>
    </p:spTree>
    <p:extLst>
      <p:ext uri="{BB962C8B-B14F-4D97-AF65-F5344CB8AC3E}">
        <p14:creationId xmlns:p14="http://schemas.microsoft.com/office/powerpoint/2010/main" val="37015640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866519-A37D-A25C-D47D-95A751E168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a-Latn-N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E41CBDB-B617-F9A0-80D5-89D39D6BCD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FC0FE-C2FE-4709-8291-F1FC570E6F2F}" type="datetimeFigureOut">
              <a:rPr lang="ha-Latn-NG" smtClean="0"/>
              <a:t>2/2/2026</a:t>
            </a:fld>
            <a:endParaRPr lang="ha-Latn-N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031655-4D67-EDC0-0C83-188F98CDDF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a-Latn-N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6F58AA-AC82-13F1-542A-7DC13F7723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A1FF60-2402-4407-8300-9DD4094344E2}" type="slidenum">
              <a:rPr lang="ha-Latn-NG" smtClean="0"/>
              <a:t>‹#›</a:t>
            </a:fld>
            <a:endParaRPr lang="ha-Latn-NG"/>
          </a:p>
        </p:txBody>
      </p:sp>
    </p:spTree>
    <p:extLst>
      <p:ext uri="{BB962C8B-B14F-4D97-AF65-F5344CB8AC3E}">
        <p14:creationId xmlns:p14="http://schemas.microsoft.com/office/powerpoint/2010/main" val="7588925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C81527A-1266-5B07-A8AC-E74FA72719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FC0FE-C2FE-4709-8291-F1FC570E6F2F}" type="datetimeFigureOut">
              <a:rPr lang="ha-Latn-NG" smtClean="0"/>
              <a:t>2/2/2026</a:t>
            </a:fld>
            <a:endParaRPr lang="ha-Latn-N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8C146D-A7A7-D795-7F8B-20C2D5B210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a-Latn-N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15836F-2B12-8FFE-ADE3-2CF4651C2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A1FF60-2402-4407-8300-9DD4094344E2}" type="slidenum">
              <a:rPr lang="ha-Latn-NG" smtClean="0"/>
              <a:t>‹#›</a:t>
            </a:fld>
            <a:endParaRPr lang="ha-Latn-NG"/>
          </a:p>
        </p:txBody>
      </p:sp>
    </p:spTree>
    <p:extLst>
      <p:ext uri="{BB962C8B-B14F-4D97-AF65-F5344CB8AC3E}">
        <p14:creationId xmlns:p14="http://schemas.microsoft.com/office/powerpoint/2010/main" val="25263953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644960-3525-8BD8-E828-8B78D5E5E4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ha-Latn-N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4A79E1-3643-126B-316D-C5CFF47E64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a-Latn-N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7118FE-85BB-9BC8-7093-982C881D8A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BE0CC5-7B51-2896-B7B5-01ED7D0F7A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FC0FE-C2FE-4709-8291-F1FC570E6F2F}" type="datetimeFigureOut">
              <a:rPr lang="ha-Latn-NG" smtClean="0"/>
              <a:t>2/2/2026</a:t>
            </a:fld>
            <a:endParaRPr lang="ha-Latn-N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7970F4-4172-D98C-8249-C997633D5D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a-Latn-N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5CA62E-69D9-EF1B-DFB0-54A0CC55B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A1FF60-2402-4407-8300-9DD4094344E2}" type="slidenum">
              <a:rPr lang="ha-Latn-NG" smtClean="0"/>
              <a:t>‹#›</a:t>
            </a:fld>
            <a:endParaRPr lang="ha-Latn-NG"/>
          </a:p>
        </p:txBody>
      </p:sp>
    </p:spTree>
    <p:extLst>
      <p:ext uri="{BB962C8B-B14F-4D97-AF65-F5344CB8AC3E}">
        <p14:creationId xmlns:p14="http://schemas.microsoft.com/office/powerpoint/2010/main" val="37420761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905551-D501-29A4-C5F0-77B8B9E09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ha-Latn-N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8EE0043-B9AC-B599-2A02-AB416DA5A5B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a-Latn-N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909BC0-4091-75C6-DB2D-039CFB3907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FE4506-9A82-DB9C-11D1-BE0E0C994D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FC0FE-C2FE-4709-8291-F1FC570E6F2F}" type="datetimeFigureOut">
              <a:rPr lang="ha-Latn-NG" smtClean="0"/>
              <a:t>2/2/2026</a:t>
            </a:fld>
            <a:endParaRPr lang="ha-Latn-N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85C164-29B3-F1D5-EF0A-A622373727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a-Latn-N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210FE3-DF2C-96B5-8153-F4C005C45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A1FF60-2402-4407-8300-9DD4094344E2}" type="slidenum">
              <a:rPr lang="ha-Latn-NG" smtClean="0"/>
              <a:t>‹#›</a:t>
            </a:fld>
            <a:endParaRPr lang="ha-Latn-NG"/>
          </a:p>
        </p:txBody>
      </p:sp>
    </p:spTree>
    <p:extLst>
      <p:ext uri="{BB962C8B-B14F-4D97-AF65-F5344CB8AC3E}">
        <p14:creationId xmlns:p14="http://schemas.microsoft.com/office/powerpoint/2010/main" val="2828176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711A9B-9B37-78A5-BC87-8A8A921C42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a-Latn-N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350062-5540-1B05-4C1F-CB3B95C551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a-Latn-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5F684E-6304-078E-98F1-0D90ED9126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FC0FE-C2FE-4709-8291-F1FC570E6F2F}" type="datetimeFigureOut">
              <a:rPr lang="ha-Latn-NG" smtClean="0"/>
              <a:t>2/2/2026</a:t>
            </a:fld>
            <a:endParaRPr lang="ha-Lat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EDC863-6FC2-0ED7-1DB7-0463FBFD85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a-Lat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990350-ECC6-7E9D-CAD3-E08C278CAE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A1FF60-2402-4407-8300-9DD4094344E2}" type="slidenum">
              <a:rPr lang="ha-Latn-NG" smtClean="0"/>
              <a:t>‹#›</a:t>
            </a:fld>
            <a:endParaRPr lang="ha-Latn-NG"/>
          </a:p>
        </p:txBody>
      </p:sp>
    </p:spTree>
    <p:extLst>
      <p:ext uri="{BB962C8B-B14F-4D97-AF65-F5344CB8AC3E}">
        <p14:creationId xmlns:p14="http://schemas.microsoft.com/office/powerpoint/2010/main" val="21888191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C3270D2-B141-3794-CF8E-1AD9746ECD3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ha-Latn-N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373F83D-7933-C887-620D-CD767099AC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a-Latn-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702F3C-43F8-9B2C-4AD5-7553DCDF5D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FC0FE-C2FE-4709-8291-F1FC570E6F2F}" type="datetimeFigureOut">
              <a:rPr lang="ha-Latn-NG" smtClean="0"/>
              <a:t>2/2/2026</a:t>
            </a:fld>
            <a:endParaRPr lang="ha-Lat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9EE99A-F9A6-E994-E8F5-CBC03DD68D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a-Lat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E82367-1147-49A0-DD18-9A76E3776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A1FF60-2402-4407-8300-9DD4094344E2}" type="slidenum">
              <a:rPr lang="ha-Latn-NG" smtClean="0"/>
              <a:t>‹#›</a:t>
            </a:fld>
            <a:endParaRPr lang="ha-Latn-NG"/>
          </a:p>
        </p:txBody>
      </p:sp>
    </p:spTree>
    <p:extLst>
      <p:ext uri="{BB962C8B-B14F-4D97-AF65-F5344CB8AC3E}">
        <p14:creationId xmlns:p14="http://schemas.microsoft.com/office/powerpoint/2010/main" val="35429696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B7BD063-CB4F-2947-291D-C1F355F4D2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ha-Latn-N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E8F3D0-98D7-F7D5-B74A-A26633AE2C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a-Latn-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57643D-E202-05E6-01BA-A23217444D5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88FC0FE-C2FE-4709-8291-F1FC570E6F2F}" type="datetimeFigureOut">
              <a:rPr lang="ha-Latn-NG" smtClean="0"/>
              <a:t>2/2/2026</a:t>
            </a:fld>
            <a:endParaRPr lang="ha-Lat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CD31BD-FADC-1C34-47C7-5AB1EF15EC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a-Lat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80D3C9-80E7-E5D4-0A22-9377B49FF1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CA1FF60-2402-4407-8300-9DD4094344E2}" type="slidenum">
              <a:rPr lang="ha-Latn-NG" smtClean="0"/>
              <a:t>‹#›</a:t>
            </a:fld>
            <a:endParaRPr lang="ha-Latn-NG"/>
          </a:p>
        </p:txBody>
      </p:sp>
    </p:spTree>
    <p:extLst>
      <p:ext uri="{BB962C8B-B14F-4D97-AF65-F5344CB8AC3E}">
        <p14:creationId xmlns:p14="http://schemas.microsoft.com/office/powerpoint/2010/main" val="24099609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a-Latn-NG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83F4E-5D9E-078C-D292-0A6CA215CC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34144" y="217714"/>
            <a:ext cx="9633856" cy="2764971"/>
          </a:xfrm>
        </p:spPr>
        <p:txBody>
          <a:bodyPr>
            <a:normAutofit/>
          </a:bodyPr>
          <a:lstStyle/>
          <a:p>
            <a:br>
              <a:rPr lang="en-US" sz="1200" b="1" dirty="0"/>
            </a:br>
            <a:r>
              <a:rPr lang="en-US" sz="3500" dirty="0"/>
              <a:t>Strategic Analysis of Subscriber Churn</a:t>
            </a:r>
            <a:br>
              <a:rPr lang="en-US" sz="3500" dirty="0"/>
            </a:br>
            <a:r>
              <a:rPr lang="en-US" sz="3500" dirty="0"/>
              <a:t>Identifying Drivers and Retention Opportunities for Q3</a:t>
            </a:r>
            <a:br>
              <a:rPr lang="en-US" sz="1200" dirty="0"/>
            </a:br>
            <a:br>
              <a:rPr lang="en-US" sz="1200" dirty="0"/>
            </a:br>
            <a:endParaRPr lang="ha-Latn-NG" sz="12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E6E1AE-EF05-04EA-65A3-A9B71418FB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34144" y="4365170"/>
            <a:ext cx="3135086" cy="1643743"/>
          </a:xfrm>
        </p:spPr>
        <p:txBody>
          <a:bodyPr>
            <a:normAutofit lnSpcReduction="10000"/>
          </a:bodyPr>
          <a:lstStyle/>
          <a:p>
            <a:pPr algn="l"/>
            <a:r>
              <a:rPr lang="en-US" i="1" dirty="0"/>
              <a:t>Shamsuddeen Yusuf</a:t>
            </a:r>
          </a:p>
          <a:p>
            <a:pPr algn="l"/>
            <a:r>
              <a:rPr lang="en-US" i="1" dirty="0"/>
              <a:t>Data Analyst</a:t>
            </a:r>
          </a:p>
          <a:p>
            <a:pPr algn="l"/>
            <a:br>
              <a:rPr lang="en-US" i="1" dirty="0"/>
            </a:br>
            <a:r>
              <a:rPr lang="en-US" b="1" i="1" dirty="0"/>
              <a:t>Company:</a:t>
            </a:r>
            <a:r>
              <a:rPr lang="en-US" i="1" dirty="0"/>
              <a:t> Fit.ly Tech</a:t>
            </a:r>
            <a:endParaRPr lang="ha-Latn-NG" i="1" dirty="0"/>
          </a:p>
        </p:txBody>
      </p:sp>
    </p:spTree>
    <p:extLst>
      <p:ext uri="{BB962C8B-B14F-4D97-AF65-F5344CB8AC3E}">
        <p14:creationId xmlns:p14="http://schemas.microsoft.com/office/powerpoint/2010/main" val="26587175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AF368C-E7E0-D43F-8FFE-F088E731CA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4142" y="1825626"/>
            <a:ext cx="10515600" cy="1113518"/>
          </a:xfrm>
        </p:spPr>
        <p:txBody>
          <a:bodyPr>
            <a:normAutofit fontScale="90000"/>
          </a:bodyPr>
          <a:lstStyle/>
          <a:p>
            <a:pPr algn="ctr"/>
            <a:r>
              <a:rPr lang="en-US" sz="5000" b="1" dirty="0"/>
              <a:t>Project Overview &amp; Business Goals</a:t>
            </a:r>
            <a:br>
              <a:rPr lang="en-US" b="1" dirty="0"/>
            </a:br>
            <a:endParaRPr lang="ha-Latn-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94FA11-1614-08E2-D394-D777FCB0FB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1228" y="2579914"/>
            <a:ext cx="10515600" cy="2405743"/>
          </a:xfrm>
        </p:spPr>
        <p:txBody>
          <a:bodyPr/>
          <a:lstStyle/>
          <a:p>
            <a:r>
              <a:rPr lang="en-US" b="1" dirty="0"/>
              <a:t>The Problem:</a:t>
            </a:r>
            <a:r>
              <a:rPr lang="en-US" dirty="0"/>
              <a:t> Churn has increased over the last two quarters.</a:t>
            </a:r>
          </a:p>
          <a:p>
            <a:r>
              <a:rPr lang="en-US" b="1" dirty="0"/>
              <a:t>The Cost:</a:t>
            </a:r>
            <a:r>
              <a:rPr lang="en-US" dirty="0"/>
              <a:t> Customer acquisition costs (CAC) are rising; losing existing users increases financial pressure.</a:t>
            </a:r>
          </a:p>
          <a:p>
            <a:r>
              <a:rPr lang="en-US" b="1" dirty="0"/>
              <a:t>Goal:</a:t>
            </a:r>
            <a:r>
              <a:rPr lang="en-US" dirty="0"/>
              <a:t> Identify why users leave and provide evidence-based actions to stabilize the subscriber base.</a:t>
            </a:r>
          </a:p>
          <a:p>
            <a:endParaRPr lang="ha-Latn-NG" dirty="0"/>
          </a:p>
        </p:txBody>
      </p:sp>
    </p:spTree>
    <p:extLst>
      <p:ext uri="{BB962C8B-B14F-4D97-AF65-F5344CB8AC3E}">
        <p14:creationId xmlns:p14="http://schemas.microsoft.com/office/powerpoint/2010/main" val="23850242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F1B2FB-1EDA-BF89-6136-1AA4B75BEE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97894"/>
            <a:ext cx="10515600" cy="1325563"/>
          </a:xfrm>
        </p:spPr>
        <p:txBody>
          <a:bodyPr/>
          <a:lstStyle/>
          <a:p>
            <a:pPr algn="ctr"/>
            <a:r>
              <a:rPr lang="en-US" b="1" dirty="0"/>
              <a:t>Data Quality &amp; Validation</a:t>
            </a:r>
            <a:endParaRPr lang="ha-Latn-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B74DF9-BA9C-E254-6AE9-00722DD678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623457"/>
            <a:ext cx="10668000" cy="3553506"/>
          </a:xfrm>
        </p:spPr>
        <p:txBody>
          <a:bodyPr/>
          <a:lstStyle/>
          <a:p>
            <a:r>
              <a:rPr lang="en-US" b="1" dirty="0"/>
              <a:t>The Process:</a:t>
            </a:r>
            <a:r>
              <a:rPr lang="en-US" dirty="0"/>
              <a:t> Consolidated data from Account, Support, and Activity systems.</a:t>
            </a:r>
          </a:p>
          <a:p>
            <a:r>
              <a:rPr lang="en-US" b="1" dirty="0"/>
              <a:t>Validation Steps:</a:t>
            </a:r>
            <a:endParaRPr lang="en-US" dirty="0"/>
          </a:p>
          <a:p>
            <a:pPr lvl="1"/>
            <a:r>
              <a:rPr lang="en-US" dirty="0"/>
              <a:t>Unified 400 unique customer records.</a:t>
            </a:r>
          </a:p>
          <a:p>
            <a:pPr lvl="1"/>
            <a:r>
              <a:rPr lang="en-US" dirty="0"/>
              <a:t>Standardized churn status (Missing = Active; "Y" = Churned).</a:t>
            </a:r>
          </a:p>
          <a:p>
            <a:pPr lvl="1"/>
            <a:r>
              <a:rPr lang="en-US" dirty="0"/>
              <a:t>Cleaned Customer Support "Unknown" channels and verified Pacific Time timestamps.</a:t>
            </a:r>
          </a:p>
          <a:p>
            <a:pPr lvl="1"/>
            <a:r>
              <a:rPr lang="en-US" dirty="0"/>
              <a:t>Handled system downtimes in Activity logs as noted by Engineering.</a:t>
            </a:r>
          </a:p>
          <a:p>
            <a:endParaRPr lang="ha-Latn-NG" dirty="0"/>
          </a:p>
        </p:txBody>
      </p:sp>
    </p:spTree>
    <p:extLst>
      <p:ext uri="{BB962C8B-B14F-4D97-AF65-F5344CB8AC3E}">
        <p14:creationId xmlns:p14="http://schemas.microsoft.com/office/powerpoint/2010/main" val="169608417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114ED94A-C85D-4CD3-4205-438D21CE6B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9217" y="-1"/>
            <a:ext cx="5213267" cy="6883030"/>
            <a:chOff x="-19217" y="-1"/>
            <a:chExt cx="5213267" cy="688303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642BDB2-BF67-1D53-1C70-0B41D709E4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06" y="0"/>
              <a:ext cx="5204956" cy="6883029"/>
            </a:xfrm>
            <a:prstGeom prst="rect">
              <a:avLst/>
            </a:prstGeom>
            <a:gradFill>
              <a:gsLst>
                <a:gs pos="7000">
                  <a:schemeClr val="accent2"/>
                </a:gs>
                <a:gs pos="100000">
                  <a:schemeClr val="accent5"/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8E0D8CE-5DBF-B664-EB48-C29BF8AB48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-19217" y="1731909"/>
              <a:ext cx="5204963" cy="5144400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75000"/>
                  </a:schemeClr>
                </a:gs>
                <a:gs pos="60000">
                  <a:schemeClr val="accent5">
                    <a:lumMod val="60000"/>
                    <a:lumOff val="40000"/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DFD140CE-7DE2-C88F-5EAE-F45EB69E6A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10" y="6723"/>
              <a:ext cx="3834567" cy="6876300"/>
            </a:xfrm>
            <a:prstGeom prst="rect">
              <a:avLst/>
            </a:prstGeom>
            <a:gradFill flip="none" rotWithShape="1">
              <a:gsLst>
                <a:gs pos="3000">
                  <a:schemeClr val="accent2">
                    <a:lumMod val="60000"/>
                    <a:lumOff val="40000"/>
                    <a:alpha val="78000"/>
                  </a:schemeClr>
                </a:gs>
                <a:gs pos="42000">
                  <a:schemeClr val="accent2">
                    <a:alpha val="0"/>
                  </a:schemeClr>
                </a:gs>
              </a:gsLst>
              <a:lin ang="3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57E87E3-413F-10EF-63D8-6016E986C9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-844601" y="833689"/>
              <a:ext cx="6872341" cy="5204961"/>
            </a:xfrm>
            <a:prstGeom prst="rect">
              <a:avLst/>
            </a:prstGeom>
            <a:gradFill>
              <a:gsLst>
                <a:gs pos="0">
                  <a:schemeClr val="accent5">
                    <a:alpha val="86000"/>
                  </a:schemeClr>
                </a:gs>
                <a:gs pos="57000">
                  <a:schemeClr val="accent2">
                    <a:alpha val="0"/>
                  </a:schemeClr>
                </a:gs>
              </a:gsLst>
              <a:lin ang="13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B668597-D681-9AB5-B2B3-835C79EAD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484" y="739835"/>
            <a:ext cx="3702580" cy="1616203"/>
          </a:xfrm>
        </p:spPr>
        <p:txBody>
          <a:bodyPr anchor="b">
            <a:normAutofit/>
          </a:bodyPr>
          <a:lstStyle/>
          <a:p>
            <a:r>
              <a:rPr lang="en-US" sz="3200" b="1">
                <a:solidFill>
                  <a:srgbClr val="FFFFFF"/>
                </a:solidFill>
              </a:rPr>
              <a:t>Current State of Churn </a:t>
            </a:r>
            <a:endParaRPr lang="ha-Latn-NG" sz="32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2A2DC4-EE2B-63EA-86D2-25B8F3719A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5484" y="2459116"/>
            <a:ext cx="3702579" cy="3524823"/>
          </a:xfrm>
        </p:spPr>
        <p:txBody>
          <a:bodyPr>
            <a:normAutofit/>
          </a:bodyPr>
          <a:lstStyle/>
          <a:p>
            <a:endParaRPr lang="en-US" sz="1600" b="1">
              <a:solidFill>
                <a:srgbClr val="FFFFFF"/>
              </a:solidFill>
            </a:endParaRPr>
          </a:p>
          <a:p>
            <a:endParaRPr lang="en-US" sz="1600" b="1">
              <a:solidFill>
                <a:srgbClr val="FFFFFF"/>
              </a:solidFill>
            </a:endParaRPr>
          </a:p>
          <a:p>
            <a:endParaRPr lang="en-US" sz="1600" b="1">
              <a:solidFill>
                <a:srgbClr val="FFFFFF"/>
              </a:solidFill>
            </a:endParaRPr>
          </a:p>
          <a:p>
            <a:endParaRPr lang="en-US" sz="1600" b="1">
              <a:solidFill>
                <a:srgbClr val="FFFFFF"/>
              </a:solidFill>
            </a:endParaRPr>
          </a:p>
          <a:p>
            <a:endParaRPr lang="en-US" sz="1600" b="1">
              <a:solidFill>
                <a:srgbClr val="FFFFFF"/>
              </a:solidFill>
            </a:endParaRPr>
          </a:p>
          <a:p>
            <a:endParaRPr lang="en-US" sz="1600" b="1">
              <a:solidFill>
                <a:srgbClr val="FFFFFF"/>
              </a:solidFill>
            </a:endParaRPr>
          </a:p>
          <a:p>
            <a:endParaRPr lang="en-US" sz="1600" b="1">
              <a:solidFill>
                <a:srgbClr val="FFFFFF"/>
              </a:solidFill>
            </a:endParaRPr>
          </a:p>
          <a:p>
            <a:endParaRPr lang="en-US" sz="1600" b="1">
              <a:solidFill>
                <a:srgbClr val="FFFFFF"/>
              </a:solidFill>
            </a:endParaRPr>
          </a:p>
          <a:p>
            <a:r>
              <a:rPr lang="en-US" sz="1600" b="1">
                <a:solidFill>
                  <a:srgbClr val="FFFFFF"/>
                </a:solidFill>
              </a:rPr>
              <a:t>Key Insight:</a:t>
            </a:r>
            <a:r>
              <a:rPr lang="en-US" sz="1600">
                <a:solidFill>
                  <a:srgbClr val="FFFFFF"/>
                </a:solidFill>
              </a:rPr>
              <a:t> Nearly 1 in 3 users are leaving the platform, representing a significant revenue leak.</a:t>
            </a:r>
          </a:p>
          <a:p>
            <a:endParaRPr lang="ha-Latn-NG" sz="1600">
              <a:solidFill>
                <a:srgbClr val="FFFFFF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55320AE-1E00-2954-6039-5F558D02D8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4040" y="6723"/>
            <a:ext cx="6997960" cy="6851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67100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114ED94A-C85D-4CD3-4205-438D21CE6B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9217" y="-1"/>
            <a:ext cx="5213267" cy="6883030"/>
            <a:chOff x="-19217" y="-1"/>
            <a:chExt cx="5213267" cy="6883030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E642BDB2-BF67-1D53-1C70-0B41D709E4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06" y="0"/>
              <a:ext cx="5204956" cy="6883029"/>
            </a:xfrm>
            <a:prstGeom prst="rect">
              <a:avLst/>
            </a:prstGeom>
            <a:gradFill>
              <a:gsLst>
                <a:gs pos="7000">
                  <a:schemeClr val="accent2"/>
                </a:gs>
                <a:gs pos="100000">
                  <a:schemeClr val="accent5"/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58E0D8CE-5DBF-B664-EB48-C29BF8AB48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-19217" y="1731909"/>
              <a:ext cx="5204963" cy="5144400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75000"/>
                  </a:schemeClr>
                </a:gs>
                <a:gs pos="60000">
                  <a:schemeClr val="accent5">
                    <a:lumMod val="60000"/>
                    <a:lumOff val="40000"/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DFD140CE-7DE2-C88F-5EAE-F45EB69E6A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10" y="6723"/>
              <a:ext cx="3834567" cy="6876300"/>
            </a:xfrm>
            <a:prstGeom prst="rect">
              <a:avLst/>
            </a:prstGeom>
            <a:gradFill flip="none" rotWithShape="1">
              <a:gsLst>
                <a:gs pos="3000">
                  <a:schemeClr val="accent2">
                    <a:lumMod val="60000"/>
                    <a:lumOff val="40000"/>
                    <a:alpha val="78000"/>
                  </a:schemeClr>
                </a:gs>
                <a:gs pos="42000">
                  <a:schemeClr val="accent2">
                    <a:alpha val="0"/>
                  </a:schemeClr>
                </a:gs>
              </a:gsLst>
              <a:lin ang="3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57E87E3-413F-10EF-63D8-6016E986C9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-844601" y="833689"/>
              <a:ext cx="6872341" cy="5204961"/>
            </a:xfrm>
            <a:prstGeom prst="rect">
              <a:avLst/>
            </a:prstGeom>
            <a:gradFill>
              <a:gsLst>
                <a:gs pos="0">
                  <a:schemeClr val="accent5">
                    <a:alpha val="86000"/>
                  </a:schemeClr>
                </a:gs>
                <a:gs pos="57000">
                  <a:schemeClr val="accent2">
                    <a:alpha val="0"/>
                  </a:schemeClr>
                </a:gs>
              </a:gsLst>
              <a:lin ang="13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C23A4D1-46EA-F2E5-FA75-6906456889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484" y="739835"/>
            <a:ext cx="3702580" cy="1616203"/>
          </a:xfrm>
        </p:spPr>
        <p:txBody>
          <a:bodyPr anchor="b">
            <a:normAutofit/>
          </a:bodyPr>
          <a:lstStyle/>
          <a:p>
            <a:r>
              <a:rPr lang="en-US" sz="3200" b="1" dirty="0">
                <a:solidFill>
                  <a:srgbClr val="FFFFFF"/>
                </a:solidFill>
              </a:rPr>
              <a:t>Subscription Tier Impact</a:t>
            </a:r>
            <a:endParaRPr lang="ha-Latn-NG" sz="3200" dirty="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F2E805-C463-08B3-016E-B3F2E3EA32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5484" y="2459116"/>
            <a:ext cx="3702579" cy="3524823"/>
          </a:xfrm>
        </p:spPr>
        <p:txBody>
          <a:bodyPr>
            <a:normAutofit/>
          </a:bodyPr>
          <a:lstStyle/>
          <a:p>
            <a:endParaRPr lang="en-US" sz="2000">
              <a:solidFill>
                <a:srgbClr val="FFFFFF"/>
              </a:solidFill>
            </a:endParaRPr>
          </a:p>
          <a:p>
            <a:endParaRPr lang="en-US" sz="2000">
              <a:solidFill>
                <a:srgbClr val="FFFFFF"/>
              </a:solidFill>
            </a:endParaRPr>
          </a:p>
          <a:p>
            <a:endParaRPr lang="en-US" sz="2000">
              <a:solidFill>
                <a:srgbClr val="FFFFFF"/>
              </a:solidFill>
            </a:endParaRPr>
          </a:p>
          <a:p>
            <a:endParaRPr lang="en-US" sz="2000">
              <a:solidFill>
                <a:srgbClr val="FFFFFF"/>
              </a:solidFill>
            </a:endParaRPr>
          </a:p>
          <a:p>
            <a:endParaRPr lang="en-US" sz="2000">
              <a:solidFill>
                <a:srgbClr val="FFFFFF"/>
              </a:solidFill>
            </a:endParaRPr>
          </a:p>
          <a:p>
            <a:r>
              <a:rPr lang="en-US" sz="2000" b="1">
                <a:solidFill>
                  <a:srgbClr val="FFFFFF"/>
                </a:solidFill>
              </a:rPr>
              <a:t>Key Insight:</a:t>
            </a:r>
            <a:r>
              <a:rPr lang="en-US" sz="2000">
                <a:solidFill>
                  <a:srgbClr val="FFFFFF"/>
                </a:solidFill>
              </a:rPr>
              <a:t> The </a:t>
            </a:r>
            <a:r>
              <a:rPr lang="en-US" sz="2000" b="1">
                <a:solidFill>
                  <a:srgbClr val="FFFFFF"/>
                </a:solidFill>
              </a:rPr>
              <a:t>Free Tier (41% churn)</a:t>
            </a:r>
            <a:r>
              <a:rPr lang="en-US" sz="2000">
                <a:solidFill>
                  <a:srgbClr val="FFFFFF"/>
                </a:solidFill>
              </a:rPr>
              <a:t> is the most volatile. The </a:t>
            </a:r>
            <a:r>
              <a:rPr lang="en-US" sz="2000" b="1">
                <a:solidFill>
                  <a:srgbClr val="FFFFFF"/>
                </a:solidFill>
              </a:rPr>
              <a:t>Pro Tier (22% churn)</a:t>
            </a:r>
            <a:r>
              <a:rPr lang="en-US" sz="2000">
                <a:solidFill>
                  <a:srgbClr val="FFFFFF"/>
                </a:solidFill>
              </a:rPr>
              <a:t> is our most stable segment.</a:t>
            </a:r>
          </a:p>
          <a:p>
            <a:endParaRPr lang="ha-Latn-NG" sz="2000">
              <a:solidFill>
                <a:srgbClr val="FFFFFF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8A0B298-1FF5-54C5-B8E1-A8C4E62751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4459" y="250370"/>
            <a:ext cx="6844238" cy="6531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4526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057CB7-94C9-E0A8-4815-763E8995E9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63839"/>
            <a:ext cx="10515600" cy="1325563"/>
          </a:xfrm>
        </p:spPr>
        <p:txBody>
          <a:bodyPr/>
          <a:lstStyle/>
          <a:p>
            <a:pPr algn="ctr"/>
            <a:r>
              <a:rPr lang="en-US" b="1" dirty="0"/>
              <a:t>Support &amp; Technical Drivers</a:t>
            </a:r>
            <a:endParaRPr lang="ha-Latn-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2106F6-29F9-D48C-0EBE-11BC8ABC34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69029"/>
            <a:ext cx="10515600" cy="2852057"/>
          </a:xfrm>
        </p:spPr>
        <p:txBody>
          <a:bodyPr/>
          <a:lstStyle/>
          <a:p>
            <a:r>
              <a:rPr lang="en-US" b="1" dirty="0"/>
              <a:t>Findings:</a:t>
            </a:r>
            <a:endParaRPr lang="en-US" dirty="0"/>
          </a:p>
          <a:p>
            <a:pPr lvl="1"/>
            <a:r>
              <a:rPr lang="en-US" sz="2800" dirty="0"/>
              <a:t>Support volume is roughly equal for both groups (~2.3 tickets).</a:t>
            </a:r>
          </a:p>
          <a:p>
            <a:pPr lvl="1"/>
            <a:r>
              <a:rPr lang="en-US" sz="2800" dirty="0"/>
              <a:t>Churn is </a:t>
            </a:r>
            <a:r>
              <a:rPr lang="en-US" sz="2800" b="1" dirty="0"/>
              <a:t>not</a:t>
            </a:r>
            <a:r>
              <a:rPr lang="en-US" sz="2800" dirty="0"/>
              <a:t> primarily driven by "bad" support; it is driven by a lack of perceived value in the app.</a:t>
            </a:r>
          </a:p>
          <a:p>
            <a:pPr lvl="1"/>
            <a:r>
              <a:rPr lang="en-US" sz="2800" dirty="0"/>
              <a:t>GDPR "Right to be Forgotten" requests are present in support logs and require manual compliance tracking.</a:t>
            </a:r>
          </a:p>
          <a:p>
            <a:endParaRPr lang="ha-Latn-NG" dirty="0"/>
          </a:p>
        </p:txBody>
      </p:sp>
    </p:spTree>
    <p:extLst>
      <p:ext uri="{BB962C8B-B14F-4D97-AF65-F5344CB8AC3E}">
        <p14:creationId xmlns:p14="http://schemas.microsoft.com/office/powerpoint/2010/main" val="13076988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61086E-C6D6-AFB5-F6BD-C9C6EF2642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83582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3900" b="1" dirty="0"/>
              <a:t>Proposed Metric: Active Engagement Rate (AER)</a:t>
            </a:r>
            <a:br>
              <a:rPr lang="en-US" b="1" dirty="0"/>
            </a:br>
            <a:endParaRPr lang="ha-Latn-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5F16DA-C193-E6F6-A32D-87A5B33F10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58143"/>
            <a:ext cx="10515600" cy="2939143"/>
          </a:xfrm>
        </p:spPr>
        <p:txBody>
          <a:bodyPr/>
          <a:lstStyle/>
          <a:p>
            <a:r>
              <a:rPr lang="en-US" b="1" dirty="0"/>
              <a:t>The KPI:</a:t>
            </a:r>
            <a:r>
              <a:rPr lang="en-US" dirty="0"/>
              <a:t> Average number of app activities per user, per month.</a:t>
            </a:r>
          </a:p>
          <a:p>
            <a:r>
              <a:rPr lang="en-US" b="1" dirty="0"/>
              <a:t>Why AER?</a:t>
            </a:r>
            <a:r>
              <a:rPr lang="en-US" dirty="0"/>
              <a:t> It is a leading indicator. We can see a user "stopping" their workouts weeks before they actually hit the cancel button.</a:t>
            </a:r>
          </a:p>
          <a:p>
            <a:r>
              <a:rPr lang="en-US" b="1" dirty="0"/>
              <a:t>Current Baseline:</a:t>
            </a:r>
            <a:endParaRPr lang="en-US" dirty="0"/>
          </a:p>
          <a:p>
            <a:pPr lvl="1"/>
            <a:r>
              <a:rPr lang="en-US" sz="2800" b="1" dirty="0"/>
              <a:t>Health Target:</a:t>
            </a:r>
            <a:r>
              <a:rPr lang="en-US" sz="2800" dirty="0"/>
              <a:t> &gt; 1.4 activities/month.</a:t>
            </a:r>
          </a:p>
          <a:p>
            <a:pPr lvl="1"/>
            <a:r>
              <a:rPr lang="en-US" sz="2800" b="1" dirty="0"/>
              <a:t>At-Risk Threshold:</a:t>
            </a:r>
            <a:r>
              <a:rPr lang="en-US" sz="2800" dirty="0"/>
              <a:t> &lt; 0.5 activities/month</a:t>
            </a:r>
          </a:p>
          <a:p>
            <a:endParaRPr lang="ha-Latn-NG" dirty="0"/>
          </a:p>
        </p:txBody>
      </p:sp>
    </p:spTree>
    <p:extLst>
      <p:ext uri="{BB962C8B-B14F-4D97-AF65-F5344CB8AC3E}">
        <p14:creationId xmlns:p14="http://schemas.microsoft.com/office/powerpoint/2010/main" val="40452371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80CFBC-CEDC-3A12-4DE9-4D402D1F16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11691"/>
            <a:ext cx="10515600" cy="1325563"/>
          </a:xfrm>
        </p:spPr>
        <p:txBody>
          <a:bodyPr/>
          <a:lstStyle/>
          <a:p>
            <a:pPr algn="ctr"/>
            <a:r>
              <a:rPr lang="en-US" b="1" dirty="0"/>
              <a:t>Strategic Recommendations</a:t>
            </a:r>
            <a:endParaRPr lang="ha-Latn-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C00034-5DB0-498B-8EC1-E427AD7C06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37254"/>
            <a:ext cx="10515600" cy="3932918"/>
          </a:xfrm>
        </p:spPr>
        <p:txBody>
          <a:bodyPr/>
          <a:lstStyle/>
          <a:p>
            <a:r>
              <a:rPr lang="en-US" b="1" dirty="0"/>
              <a:t>1. Automated Re-engagement:</a:t>
            </a:r>
            <a:r>
              <a:rPr lang="en-US" dirty="0"/>
              <a:t> Trigger "We Miss You" notifications for users whose AER drops below 0.5.</a:t>
            </a:r>
          </a:p>
          <a:p>
            <a:r>
              <a:rPr lang="en-US" b="1" dirty="0"/>
              <a:t>2. Pro-Tier Incentives:</a:t>
            </a:r>
            <a:r>
              <a:rPr lang="en-US" dirty="0"/>
              <a:t> Offer Free/Basic users a trial of Pro features once they complete 3 workouts to increase "stickiness."</a:t>
            </a:r>
          </a:p>
          <a:p>
            <a:r>
              <a:rPr lang="en-US" b="1" dirty="0"/>
              <a:t>3. Engineering Alignment:</a:t>
            </a:r>
            <a:r>
              <a:rPr lang="en-US" dirty="0"/>
              <a:t> Improve activity logging reliability to ensure churn data isn't skewed by server downtime.</a:t>
            </a:r>
          </a:p>
          <a:p>
            <a:r>
              <a:rPr lang="en-US" b="1" dirty="0"/>
              <a:t>4. Compliance:</a:t>
            </a:r>
            <a:r>
              <a:rPr lang="en-US" dirty="0"/>
              <a:t> Automate the "Right to be Forgotten" support workflow.</a:t>
            </a:r>
          </a:p>
          <a:p>
            <a:endParaRPr lang="ha-Latn-NG" dirty="0"/>
          </a:p>
        </p:txBody>
      </p:sp>
    </p:spTree>
    <p:extLst>
      <p:ext uri="{BB962C8B-B14F-4D97-AF65-F5344CB8AC3E}">
        <p14:creationId xmlns:p14="http://schemas.microsoft.com/office/powerpoint/2010/main" val="5757687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</TotalTime>
  <Words>415</Words>
  <Application>Microsoft Office PowerPoint</Application>
  <PresentationFormat>Widescreen</PresentationFormat>
  <Paragraphs>48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 Strategic Analysis of Subscriber Churn Identifying Drivers and Retention Opportunities for Q3  </vt:lpstr>
      <vt:lpstr>Project Overview &amp; Business Goals </vt:lpstr>
      <vt:lpstr>Data Quality &amp; Validation</vt:lpstr>
      <vt:lpstr>Current State of Churn </vt:lpstr>
      <vt:lpstr>Subscription Tier Impact</vt:lpstr>
      <vt:lpstr>Support &amp; Technical Drivers</vt:lpstr>
      <vt:lpstr>Proposed Metric: Active Engagement Rate (AER) </vt:lpstr>
      <vt:lpstr>Strategic Recommendations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shamsuddeen yusuf</dc:creator>
  <cp:lastModifiedBy>shamsuddeen yusuf</cp:lastModifiedBy>
  <cp:revision>4</cp:revision>
  <dcterms:created xsi:type="dcterms:W3CDTF">2026-02-02T07:05:19Z</dcterms:created>
  <dcterms:modified xsi:type="dcterms:W3CDTF">2026-02-02T07:29:26Z</dcterms:modified>
</cp:coreProperties>
</file>